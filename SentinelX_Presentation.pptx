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7a6333af41c4428" /><Relationship Type="http://schemas.openxmlformats.org/package/2006/relationships/metadata/core-properties" Target="/docProps/core.xml" Id="R5f5c5d0191974098" /><Relationship Type="http://schemas.openxmlformats.org/officeDocument/2006/relationships/extended-properties" Target="/docProps/app.xml" Id="Rf70106eb293e40a4" /><Relationship Type="http://schemas.openxmlformats.org/officeDocument/2006/relationships/custom-properties" Target="/docProps/custom.xml" Id="R9598446c3eea4e9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4255da3676264daa"/>
  </p:notesMasterIdLst>
  <p:sldIdLst>
    <p:sldId id="256" r:id="R98b01fff603e4073"/>
    <p:sldId id="257" r:id="Rd6524bf244424443"/>
    <p:sldId id="258" r:id="R72b9213bd93445b2"/>
    <p:sldId id="259" r:id="R44bd68a2575f4299"/>
    <p:sldId id="260" r:id="R0196a6e6f8bb4a66"/>
    <p:sldId id="261" r:id="R1801ca5dc38e415d"/>
    <p:sldId id="262" r:id="Rd1b0aea5aec04589"/>
    <p:sldId id="263" r:id="R7d3321b138204572"/>
    <p:sldId id="264" r:id="Reabd7b40623e4835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98b01fff603e4073" /><Relationship Type="http://schemas.openxmlformats.org/officeDocument/2006/relationships/notesMaster" Target="/ppt/notesMasters/notesMaster1.xml" Id="R4255da3676264daa" /><Relationship Type="http://schemas.openxmlformats.org/officeDocument/2006/relationships/slide" Target="/ppt/slides/slide2.xml" Id="Rd6524bf244424443" /><Relationship Type="http://schemas.openxmlformats.org/officeDocument/2006/relationships/slide" Target="/ppt/slides/slide3.xml" Id="R72b9213bd93445b2" /><Relationship Type="http://schemas.openxmlformats.org/officeDocument/2006/relationships/slide" Target="/ppt/slides/slide4.xml" Id="R44bd68a2575f4299" /><Relationship Type="http://schemas.openxmlformats.org/officeDocument/2006/relationships/slide" Target="/ppt/slides/slide5.xml" Id="R0196a6e6f8bb4a66" /><Relationship Type="http://schemas.openxmlformats.org/officeDocument/2006/relationships/slide" Target="/ppt/slides/slide6.xml" Id="R1801ca5dc38e415d" /><Relationship Type="http://schemas.openxmlformats.org/officeDocument/2006/relationships/slide" Target="/ppt/slides/slide7.xml" Id="Rd1b0aea5aec04589" /><Relationship Type="http://schemas.openxmlformats.org/officeDocument/2006/relationships/slide" Target="/ppt/slides/slide8.xml" Id="R7d3321b138204572" /><Relationship Type="http://schemas.openxmlformats.org/officeDocument/2006/relationships/slide" Target="/ppt/slides/slide9.xml" Id="Reabd7b40623e48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c364c0005574678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aff6225970e4329" /><Relationship Type="http://schemas.openxmlformats.org/officeDocument/2006/relationships/slide" Target="/ppt/slides/slide1.xml" Id="R0f926527df694c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1ae0da2befc412d" /><Relationship Type="http://schemas.openxmlformats.org/officeDocument/2006/relationships/slide" Target="/ppt/slides/slide2.xml" Id="Rb40cb5252e0942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3185cdb85e04411" /><Relationship Type="http://schemas.openxmlformats.org/officeDocument/2006/relationships/slide" Target="/ppt/slides/slide3.xml" Id="R4ce28e4a736c4c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4f456665dbe4683" /><Relationship Type="http://schemas.openxmlformats.org/officeDocument/2006/relationships/slide" Target="/ppt/slides/slide4.xml" Id="R502ca571b6c649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eeee49d51b74590" /><Relationship Type="http://schemas.openxmlformats.org/officeDocument/2006/relationships/slide" Target="/ppt/slides/slide5.xml" Id="Ree31cbd68fc349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2ee7f459bc248bb" /><Relationship Type="http://schemas.openxmlformats.org/officeDocument/2006/relationships/slide" Target="/ppt/slides/slide6.xml" Id="R10e70e6aae8947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73dbde0e4ad468b" /><Relationship Type="http://schemas.openxmlformats.org/officeDocument/2006/relationships/slide" Target="/ppt/slides/slide7.xml" Id="R8ad59036eafd41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f0ab9d76c2a4a97" /><Relationship Type="http://schemas.openxmlformats.org/officeDocument/2006/relationships/slide" Target="/ppt/slides/slide8.xml" Id="Re7849a85c48043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1eaff2c33cc4ddb" /><Relationship Type="http://schemas.openxmlformats.org/officeDocument/2006/relationships/slide" Target="/ppt/slides/slide9.xml" Id="R542a45a877664a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Welcome. This is SentinelX — a cybersecurity threat detection dashboard built for the IBM SkillsBuild Bootcamp.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Explain the real-world problem: large volumes of security events, brute-force attacks easy to miss, need for automated detection.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Three-layer architecture: frontend calls the Spring Boot REST API, which reads from the in-memory event store. No database, no external services.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Six key features: live dashboard with flip cards, brute-force detection, actionable alerts, REST API, automated tests, and safety-first design.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Four-step detection algorithm: filter to failures only, apply time window, group by IP, check against threshold. Both values are configurable.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43 tests across three classes. Unit tests run without Spring context (fast). Controller tests use MockMvc. All 43 pass, zero failures.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Seven learning areas — from Spring Boot fundamentals through to cybersecurity concepts applied in a real project.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Safety was a core requirement from day one. No real data, no network access, no external services.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Thank you. Open to questions about the architecture, detection logic, or testing approach.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dc86da9419412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c1ecafecc44f0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e169b5f110413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16bfb876ac482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a4598f1355430a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34f451d149ad469b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819bbcb4a470c" /><Relationship Type="http://schemas.openxmlformats.org/officeDocument/2006/relationships/notesSlide" Target="/ppt/notesSlides/notesSlide1.xml" Id="Raaae77b2b4bb4b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63e6c579641ec" /><Relationship Type="http://schemas.openxmlformats.org/officeDocument/2006/relationships/notesSlide" Target="/ppt/notesSlides/notesSlide2.xml" Id="Ra28e6c05a7d440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6a2142069423b" /><Relationship Type="http://schemas.openxmlformats.org/officeDocument/2006/relationships/notesSlide" Target="/ppt/notesSlides/notesSlide3.xml" Id="R03fe604b664c4d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c0e9c707c84501" /><Relationship Type="http://schemas.openxmlformats.org/officeDocument/2006/relationships/notesSlide" Target="/ppt/notesSlides/notesSlide4.xml" Id="Rd79e88ced04b48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c173171c54b8a" /><Relationship Type="http://schemas.openxmlformats.org/officeDocument/2006/relationships/notesSlide" Target="/ppt/notesSlides/notesSlide5.xml" Id="R757925d6294d4a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f9d62e05248ff" /><Relationship Type="http://schemas.openxmlformats.org/officeDocument/2006/relationships/notesSlide" Target="/ppt/notesSlides/notesSlide6.xml" Id="Rd2ab58427f5a4b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8e42a93de344a0" /><Relationship Type="http://schemas.openxmlformats.org/officeDocument/2006/relationships/notesSlide" Target="/ppt/notesSlides/notesSlide7.xml" Id="Rff2bb9765c1b4d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0e48885d840a9" /><Relationship Type="http://schemas.openxmlformats.org/officeDocument/2006/relationships/notesSlide" Target="/ppt/notesSlides/notesSlide8.xml" Id="Rc2e1f3578b1140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e553b16864091" /><Relationship Type="http://schemas.openxmlformats.org/officeDocument/2006/relationships/notesSlide" Target="/ppt/notesSlides/notesSlide9.xml" Id="Rbdeeb56cb60140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4070F"/>
        </a:solidFill>
      </p:bgPr>
    </p:bg>
    <p:spTree>
      <p:nvGrpSpPr>
        <p:cNvPr id="1" name=""/>
        <p:cNvGrpSpPr/>
        <p:nvPr/>
      </p:nvGrpSpPr>
      <p:grpSpPr/>
      <p:sp>
        <p:nvSpPr>
          <p:cNvPr id="100000" name="Title"/>
          <p:cNvSpPr txBox="1"/>
          <p:nvPr/>
        </p:nvSpPr>
        <p:spPr>
          <a:xfrm xmlns:a="http://schemas.openxmlformats.org/drawingml/2006/main">
            <a:off x="720000" y="1800000"/>
            <a:ext cx="1044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5400" b="1">
                <a:solidFill>
                  <a:srgbClr val="12B87A"/>
                </a:solidFill>
              </a:rPr>
              <a:t>SentinelX</a:t>
            </a:r>
          </a:p>
        </p:txBody>
      </p:sp>
      <p:sp>
        <p:nvSpPr>
          <p:cNvPr id="100001" name="Subtitle"/>
          <p:cNvSpPr txBox="1"/>
          <p:nvPr/>
        </p:nvSpPr>
        <p:spPr>
          <a:xfrm xmlns:a="http://schemas.openxmlformats.org/drawingml/2006/main">
            <a:off x="720000" y="3420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0">
                <a:solidFill>
                  <a:srgbClr val="7AAFF0"/>
                </a:solidFill>
              </a:rPr>
              <a:t>Cybersecurity Threat Detection Dashboard</a:t>
            </a:r>
          </a:p>
        </p:txBody>
      </p:sp>
      <p:sp>
        <p:nvSpPr>
          <p:cNvPr id="100002" name="Meta"/>
          <p:cNvSpPr txBox="1"/>
          <p:nvPr/>
        </p:nvSpPr>
        <p:spPr>
          <a:xfrm xmlns:a="http://schemas.openxmlformats.org/drawingml/2006/main">
            <a:off x="720000" y="4500000"/>
            <a:ext cx="1044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4A6A9A"/>
                </a:solidFill>
              </a:rPr>
              <a:t>Gunjan Saini  ·  IBM SkillsBuild Cybersecurity Bootcamp  ·  October 2026</a:t>
            </a:r>
          </a:p>
        </p:txBody>
      </p:sp>
      <p:sp>
        <p:nvSpPr>
          <p:cNvPr id="100003" name="Stack"/>
          <p:cNvSpPr txBox="1"/>
          <p:nvPr/>
        </p:nvSpPr>
        <p:spPr>
          <a:xfrm xmlns:a="http://schemas.openxmlformats.org/drawingml/2006/main">
            <a:off x="720000" y="5040000"/>
            <a:ext cx="104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2E4F78"/>
                </a:solidFill>
              </a:rPr>
              <a:t>Java 21  ·  Spring Boot 3.3.5  ·  Vanilla JavaScript  ·  JUnit 5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4070F"/>
        </a:solidFill>
      </p:bgPr>
    </p:bg>
    <p:spTree>
      <p:nvGrpSpPr>
        <p:cNvPr id="1" name=""/>
        <p:cNvGrpSpPr/>
        <p:nvPr/>
      </p:nvGrpSpPr>
      <p:grpSpPr/>
      <p:sp>
        <p:nvSpPr>
          <p:cNvPr id="100004" name="Title"/>
          <p:cNvSpPr txBox="1"/>
          <p:nvPr/>
        </p:nvSpPr>
        <p:spPr>
          <a:xfrm xmlns:a="http://schemas.openxmlformats.org/drawingml/2006/main">
            <a:off x="54000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2B87A"/>
                </a:solidFill>
              </a:rPr>
              <a:t>Problem Statement</a:t>
            </a:r>
          </a:p>
        </p:txBody>
      </p:sp>
      <p:sp>
        <p:nvSpPr>
          <p:cNvPr id="100005" name="Body"/>
          <p:cNvSpPr txBox="1"/>
          <p:nvPr/>
        </p:nvSpPr>
        <p:spPr>
          <a:xfrm xmlns:a="http://schemas.openxmlformats.org/drawingml/2006/main">
            <a:off x="540000" y="1260000"/>
            <a:ext cx="10800000" cy="46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CFE0F8"/>
                </a:solidFill>
              </a:rPr>
              <a:t>Security teams must monitor thousands of events and spot threats fast.</a:t>
            </a:r>
          </a:p>
          <a:p xmlns:a="http://schemas.openxmlformats.org/drawingml/2006/main">
            <a:r>
              <a:rPr lang="en-US" sz="2000">
                <a:solidFill>
                  <a:srgbClr val="CFE0F8"/>
                </a:solidFill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CFE0F8"/>
                </a:solidFill>
              </a:rPr>
              <a:t>Brute-force login attacks are among the most common — and most missed — attack types in real organisations.</a:t>
            </a:r>
          </a:p>
          <a:p xmlns:a="http://schemas.openxmlformats.org/drawingml/2006/main">
            <a:r>
              <a:rPr lang="en-US" sz="2000">
                <a:solidFill>
                  <a:srgbClr val="CFE0F8"/>
                </a:solidFill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CFE0F8"/>
                </a:solidFill>
              </a:rPr>
              <a:t>Without automated detection, these attacks are invisible in large log files.</a:t>
            </a:r>
          </a:p>
          <a:p xmlns:a="http://schemas.openxmlformats.org/drawingml/2006/main">
            <a:r>
              <a:rPr lang="en-US" sz="2000">
                <a:solidFill>
                  <a:srgbClr val="CFE0F8"/>
                </a:solidFill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CFE0F8"/>
                </a:solidFill>
              </a:rPr>
              <a:t>SentinelX solves this by simulating a real SOC dashboard:</a:t>
            </a:r>
          </a:p>
          <a:p xmlns:a="http://schemas.openxmlformats.org/drawingml/2006/main">
            <a:r>
              <a:rPr lang="en-US" sz="2000">
                <a:solidFill>
                  <a:srgbClr val="CFE0F8"/>
                </a:solidFill>
              </a:rPr>
              <a:t>  •  Generates synthetic security events</a:t>
            </a:r>
          </a:p>
          <a:p xmlns:a="http://schemas.openxmlformats.org/drawingml/2006/main">
            <a:r>
              <a:rPr lang="en-US" sz="2000">
                <a:solidFill>
                  <a:srgbClr val="CFE0F8"/>
                </a:solidFill>
              </a:rPr>
              <a:t>  •  Automatically detects brute-force attacks</a:t>
            </a:r>
          </a:p>
          <a:p xmlns:a="http://schemas.openxmlformats.org/drawingml/2006/main">
            <a:r>
              <a:rPr lang="en-US" sz="2000">
                <a:solidFill>
                  <a:srgbClr val="CFE0F8"/>
                </a:solidFill>
              </a:rPr>
              <a:t>  •  Raises actionable alerts with plain-English explanations</a:t>
            </a:r>
          </a:p>
          <a:p xmlns:a="http://schemas.openxmlformats.org/drawingml/2006/main">
            <a:r>
              <a:rPr lang="en-US" sz="2000">
                <a:solidFill>
                  <a:srgbClr val="CFE0F8"/>
                </a:solidFill>
              </a:rPr>
              <a:t>  •  Presents everything in a live web dashboard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4070F"/>
        </a:solidFill>
      </p:bgPr>
    </p:bg>
    <p:spTree>
      <p:nvGrpSpPr>
        <p:cNvPr id="1" name=""/>
        <p:cNvGrpSpPr/>
        <p:nvPr/>
      </p:nvGrpSpPr>
      <p:grpSpPr/>
      <p:sp>
        <p:nvSpPr>
          <p:cNvPr id="100006" name="Title"/>
          <p:cNvSpPr txBox="1"/>
          <p:nvPr/>
        </p:nvSpPr>
        <p:spPr>
          <a:xfrm xmlns:a="http://schemas.openxmlformats.org/drawingml/2006/main">
            <a:off x="54000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2B87A"/>
                </a:solidFill>
              </a:rPr>
              <a:t>System Architecture</a:t>
            </a:r>
          </a:p>
        </p:txBody>
      </p:sp>
      <p:sp>
        <p:nvSpPr>
          <p:cNvPr id="100007" name="Layer1"/>
          <p:cNvSpPr txBox="1"/>
          <p:nvPr/>
        </p:nvSpPr>
        <p:spPr>
          <a:xfrm xmlns:a="http://schemas.openxmlformats.org/drawingml/2006/main">
            <a:off x="540000" y="1260000"/>
            <a:ext cx="306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6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FE0F8"/>
                </a:solidFill>
              </a:rPr>
              <a:t>FRONTEND</a:t>
            </a:r>
          </a:p>
          <a:p xmlns:a="http://schemas.openxmlformats.org/drawingml/2006/main">
            <a:r>
              <a:rPr lang="en-US" sz="1800">
                <a:solidFill>
                  <a:srgbClr val="CFE0F8"/>
                </a:solidFill>
              </a:rPr>
              <a:t>HTML · CSS · JavaScript</a:t>
            </a:r>
          </a:p>
          <a:p xmlns:a="http://schemas.openxmlformats.org/drawingml/2006/main">
            <a:r>
              <a:rPr lang="en-US" sz="1800">
                <a:solidFill>
                  <a:srgbClr val="CFE0F8"/>
                </a:solidFill>
              </a:rPr>
              <a:t>Single-page dashboard</a:t>
            </a:r>
          </a:p>
          <a:p xmlns:a="http://schemas.openxmlformats.org/drawingml/2006/main">
            <a:r>
              <a:rPr lang="en-US" sz="1800">
                <a:solidFill>
                  <a:srgbClr val="CFE0F8"/>
                </a:solidFill>
              </a:rPr>
              <a:t>Fetch API calls</a:t>
            </a:r>
          </a:p>
        </p:txBody>
      </p:sp>
      <p:sp>
        <p:nvSpPr>
          <p:cNvPr id="100008" name="Arrow1"/>
          <p:cNvSpPr txBox="1"/>
          <p:nvPr/>
        </p:nvSpPr>
        <p:spPr>
          <a:xfrm xmlns:a="http://schemas.openxmlformats.org/drawingml/2006/main">
            <a:off x="3780000" y="2340000"/>
            <a:ext cx="10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12B87A"/>
                </a:solidFill>
              </a:rPr>
              <a:t>HTTP JSON</a:t>
            </a:r>
          </a:p>
        </p:txBody>
      </p:sp>
      <p:sp>
        <p:nvSpPr>
          <p:cNvPr id="100009" name="Layer2"/>
          <p:cNvSpPr txBox="1"/>
          <p:nvPr/>
        </p:nvSpPr>
        <p:spPr>
          <a:xfrm xmlns:a="http://schemas.openxmlformats.org/drawingml/2006/main">
            <a:off x="5040000" y="1260000"/>
            <a:ext cx="306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6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FE0F8"/>
                </a:solidFill>
              </a:rPr>
              <a:t>BACKEND</a:t>
            </a:r>
          </a:p>
          <a:p xmlns:a="http://schemas.openxmlformats.org/drawingml/2006/main">
            <a:r>
              <a:rPr lang="en-US" sz="1800">
                <a:solidFill>
                  <a:srgbClr val="CFE0F8"/>
                </a:solidFill>
              </a:rPr>
              <a:t>Spring Boot REST API</a:t>
            </a:r>
          </a:p>
          <a:p xmlns:a="http://schemas.openxmlformats.org/drawingml/2006/main">
            <a:r>
              <a:rPr lang="en-US" sz="1800">
                <a:solidFill>
                  <a:srgbClr val="CFE0F8"/>
                </a:solidFill>
              </a:rPr>
              <a:t>4 JSON endpoints</a:t>
            </a:r>
          </a:p>
          <a:p xmlns:a="http://schemas.openxmlformats.org/drawingml/2006/main">
            <a:r>
              <a:rPr lang="en-US" sz="1800">
                <a:solidFill>
                  <a:srgbClr val="CFE0F8"/>
                </a:solidFill>
              </a:rPr>
              <a:t>Input validation</a:t>
            </a:r>
          </a:p>
        </p:txBody>
      </p:sp>
      <p:sp>
        <p:nvSpPr>
          <p:cNvPr id="100010" name="Arrow2"/>
          <p:cNvSpPr txBox="1"/>
          <p:nvPr/>
        </p:nvSpPr>
        <p:spPr>
          <a:xfrm xmlns:a="http://schemas.openxmlformats.org/drawingml/2006/main">
            <a:off x="8280000" y="2340000"/>
            <a:ext cx="9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12B87A"/>
                </a:solidFill>
              </a:rPr>
              <a:t>reads</a:t>
            </a:r>
          </a:p>
        </p:txBody>
      </p:sp>
      <p:sp>
        <p:nvSpPr>
          <p:cNvPr id="100011" name="Layer3"/>
          <p:cNvSpPr txBox="1"/>
          <p:nvPr/>
        </p:nvSpPr>
        <p:spPr>
          <a:xfrm xmlns:a="http://schemas.openxmlformats.org/drawingml/2006/main">
            <a:off x="9360000" y="1260000"/>
            <a:ext cx="234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6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FE0F8"/>
                </a:solidFill>
              </a:rPr>
              <a:t>DATA STORE</a:t>
            </a:r>
          </a:p>
          <a:p xmlns:a="http://schemas.openxmlformats.org/drawingml/2006/main">
            <a:r>
              <a:rPr lang="en-US" sz="1800">
                <a:solidFill>
                  <a:srgbClr val="CFE0F8"/>
                </a:solidFill>
              </a:rPr>
              <a:t>In-memory List</a:t>
            </a:r>
          </a:p>
          <a:p xmlns:a="http://schemas.openxmlformats.org/drawingml/2006/main">
            <a:r>
              <a:rPr lang="en-US" sz="1800">
                <a:solidFill>
                  <a:srgbClr val="CFE0F8"/>
                </a:solidFill>
              </a:rPr>
              <a:t>38 synthetic events</a:t>
            </a:r>
          </a:p>
          <a:p xmlns:a="http://schemas.openxmlformats.org/drawingml/2006/main">
            <a:r>
              <a:rPr lang="en-US" sz="1800">
                <a:solidFill>
                  <a:srgbClr val="CFE0F8"/>
                </a:solidFill>
              </a:rPr>
              <a:t>No database needed</a:t>
            </a:r>
          </a:p>
        </p:txBody>
      </p:sp>
      <p:sp>
        <p:nvSpPr>
          <p:cNvPr id="100012" name="Note"/>
          <p:cNvSpPr txBox="1"/>
          <p:nvPr/>
        </p:nvSpPr>
        <p:spPr>
          <a:xfrm xmlns:a="http://schemas.openxmlformats.org/drawingml/2006/main">
            <a:off x="540000" y="5040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4A6A9A"/>
                </a:solidFill>
              </a:rPr>
              <a:t>No external services · No database · No real data · Runs entirely on localhost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4070F"/>
        </a:solidFill>
      </p:bgPr>
    </p:bg>
    <p:spTree>
      <p:nvGrpSpPr>
        <p:cNvPr id="1" name=""/>
        <p:cNvGrpSpPr/>
        <p:nvPr/>
      </p:nvGrpSpPr>
      <p:grpSpPr/>
      <p:sp>
        <p:nvSpPr>
          <p:cNvPr id="100013" name="Title"/>
          <p:cNvSpPr txBox="1"/>
          <p:nvPr/>
        </p:nvSpPr>
        <p:spPr>
          <a:xfrm xmlns:a="http://schemas.openxmlformats.org/drawingml/2006/main">
            <a:off x="54000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2B87A"/>
                </a:solidFill>
              </a:rPr>
              <a:t>Key Features</a:t>
            </a:r>
          </a:p>
        </p:txBody>
      </p:sp>
      <p:sp>
        <p:nvSpPr>
          <p:cNvPr id="100014" name="F1"/>
          <p:cNvSpPr txBox="1"/>
          <p:nvPr/>
        </p:nvSpPr>
        <p:spPr>
          <a:xfrm xmlns:a="http://schemas.openxmlformats.org/drawingml/2006/main">
            <a:off x="540000" y="1260000"/>
            <a:ext cx="3240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F1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Live Dashboard</a:t>
            </a:r>
          </a:p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Flip cards show totals on front, descriptions on back. Filter events by severity and type in real time.</a:t>
            </a:r>
          </a:p>
        </p:txBody>
      </p:sp>
      <p:sp>
        <p:nvSpPr>
          <p:cNvPr id="100015" name="F2"/>
          <p:cNvSpPr txBox="1"/>
          <p:nvPr/>
        </p:nvSpPr>
        <p:spPr>
          <a:xfrm xmlns:a="http://schemas.openxmlformats.org/drawingml/2006/main">
            <a:off x="4140000" y="1260000"/>
            <a:ext cx="3240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F1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Brute-Force Detection</a:t>
            </a:r>
          </a:p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Configurable threshold (default: 5 failures) and time window (default: 10 min). Grouped by source IP.</a:t>
            </a:r>
          </a:p>
        </p:txBody>
      </p:sp>
      <p:sp>
        <p:nvSpPr>
          <p:cNvPr id="100016" name="F3"/>
          <p:cNvSpPr txBox="1"/>
          <p:nvPr/>
        </p:nvSpPr>
        <p:spPr>
          <a:xfrm xmlns:a="http://schemas.openxmlformats.org/drawingml/2006/main">
            <a:off x="7740000" y="1260000"/>
            <a:ext cx="3240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F1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Actionable Alerts</a:t>
            </a:r>
          </a:p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Every alert includes: source IP, targeted accounts, plain-English explanation, recommended action.</a:t>
            </a:r>
          </a:p>
        </p:txBody>
      </p:sp>
      <p:sp>
        <p:nvSpPr>
          <p:cNvPr id="100017" name="F4"/>
          <p:cNvSpPr txBox="1"/>
          <p:nvPr/>
        </p:nvSpPr>
        <p:spPr>
          <a:xfrm xmlns:a="http://schemas.openxmlformats.org/drawingml/2006/main">
            <a:off x="540000" y="3600000"/>
            <a:ext cx="3240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F1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REST API</a:t>
            </a:r>
          </a:p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4 endpoints: /api/health, /api/events, /api/alerts, /api/summary. Full input validation.</a:t>
            </a:r>
          </a:p>
        </p:txBody>
      </p:sp>
      <p:sp>
        <p:nvSpPr>
          <p:cNvPr id="100018" name="F5"/>
          <p:cNvSpPr txBox="1"/>
          <p:nvPr/>
        </p:nvSpPr>
        <p:spPr>
          <a:xfrm xmlns:a="http://schemas.openxmlformats.org/drawingml/2006/main">
            <a:off x="4140000" y="3600000"/>
            <a:ext cx="3240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F1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43 Automated Tests</a:t>
            </a:r>
          </a:p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Unit tests (no Spring context) + MockMvc controller tests. All passing. Zero failures.</a:t>
            </a:r>
          </a:p>
        </p:txBody>
      </p:sp>
      <p:sp>
        <p:nvSpPr>
          <p:cNvPr id="100019" name="F6"/>
          <p:cNvSpPr txBox="1"/>
          <p:nvPr/>
        </p:nvSpPr>
        <p:spPr>
          <a:xfrm xmlns:a="http://schemas.openxmlformats.org/drawingml/2006/main">
            <a:off x="7740000" y="3600000"/>
            <a:ext cx="3240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F1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Safe by Design</a:t>
            </a:r>
          </a:p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Synthetic data only. No scanning, no real IPs, no credentials, no external calls.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4070F"/>
        </a:solidFill>
      </p:bgPr>
    </p:bg>
    <p:spTree>
      <p:nvGrpSpPr>
        <p:cNvPr id="1" name=""/>
        <p:cNvGrpSpPr/>
        <p:nvPr/>
      </p:nvGrpSpPr>
      <p:grpSpPr/>
      <p:sp>
        <p:nvSpPr>
          <p:cNvPr id="100020" name="Title"/>
          <p:cNvSpPr txBox="1"/>
          <p:nvPr/>
        </p:nvSpPr>
        <p:spPr>
          <a:xfrm xmlns:a="http://schemas.openxmlformats.org/drawingml/2006/main">
            <a:off x="54000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2B87A"/>
                </a:solidFill>
              </a:rPr>
              <a:t>Detection Logic</a:t>
            </a:r>
          </a:p>
        </p:txBody>
      </p:sp>
      <p:sp>
        <p:nvSpPr>
          <p:cNvPr id="100021" name="Step1"/>
          <p:cNvSpPr txBox="1"/>
          <p:nvPr/>
        </p:nvSpPr>
        <p:spPr>
          <a:xfrm xmlns:a="http://schemas.openxmlformats.org/drawingml/2006/main">
            <a:off x="540000" y="1260000"/>
            <a:ext cx="216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6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STEP 1</a:t>
            </a:r>
          </a:p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Filter all events</a:t>
            </a:r>
          </a:p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Keep only LOGIN_FAILURE</a:t>
            </a:r>
          </a:p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(successful logins ignored)</a:t>
            </a:r>
          </a:p>
        </p:txBody>
      </p:sp>
      <p:sp>
        <p:nvSpPr>
          <p:cNvPr id="100022" name="Arr1"/>
          <p:cNvSpPr txBox="1"/>
          <p:nvPr/>
        </p:nvSpPr>
        <p:spPr>
          <a:xfrm xmlns:a="http://schemas.openxmlformats.org/drawingml/2006/main">
            <a:off x="2880000" y="2088000"/>
            <a:ext cx="54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800">
                <a:solidFill>
                  <a:srgbClr val="12B87A"/>
                </a:solidFill>
              </a:rPr>
              <a:t>→</a:t>
            </a:r>
          </a:p>
        </p:txBody>
      </p:sp>
      <p:sp>
        <p:nvSpPr>
          <p:cNvPr id="100023" name="Step2"/>
          <p:cNvSpPr txBox="1"/>
          <p:nvPr/>
        </p:nvSpPr>
        <p:spPr>
          <a:xfrm xmlns:a="http://schemas.openxmlformats.org/drawingml/2006/main">
            <a:off x="3600000" y="1260000"/>
            <a:ext cx="216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6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STEP 2</a:t>
            </a:r>
          </a:p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Apply time window</a:t>
            </a:r>
          </a:p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Only events within</a:t>
            </a:r>
          </a:p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last 10 minutes</a:t>
            </a:r>
          </a:p>
        </p:txBody>
      </p:sp>
      <p:sp>
        <p:nvSpPr>
          <p:cNvPr id="100024" name="Arr2"/>
          <p:cNvSpPr txBox="1"/>
          <p:nvPr/>
        </p:nvSpPr>
        <p:spPr>
          <a:xfrm xmlns:a="http://schemas.openxmlformats.org/drawingml/2006/main">
            <a:off x="5940000" y="2088000"/>
            <a:ext cx="54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800">
                <a:solidFill>
                  <a:srgbClr val="12B87A"/>
                </a:solidFill>
              </a:rPr>
              <a:t>→</a:t>
            </a:r>
          </a:p>
        </p:txBody>
      </p:sp>
      <p:sp>
        <p:nvSpPr>
          <p:cNvPr id="100025" name="Step3"/>
          <p:cNvSpPr txBox="1"/>
          <p:nvPr/>
        </p:nvSpPr>
        <p:spPr>
          <a:xfrm xmlns:a="http://schemas.openxmlformats.org/drawingml/2006/main">
            <a:off x="6660000" y="1260000"/>
            <a:ext cx="216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6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STEP 3</a:t>
            </a:r>
          </a:p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Group by source IP</a:t>
            </a:r>
          </a:p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Map each IP to its</a:t>
            </a:r>
          </a:p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list of failures</a:t>
            </a:r>
          </a:p>
        </p:txBody>
      </p:sp>
      <p:sp>
        <p:nvSpPr>
          <p:cNvPr id="100026" name="Arr3"/>
          <p:cNvSpPr txBox="1"/>
          <p:nvPr/>
        </p:nvSpPr>
        <p:spPr>
          <a:xfrm xmlns:a="http://schemas.openxmlformats.org/drawingml/2006/main">
            <a:off x="9000000" y="2088000"/>
            <a:ext cx="54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800">
                <a:solidFill>
                  <a:srgbClr val="12B87A"/>
                </a:solidFill>
              </a:rPr>
              <a:t>→</a:t>
            </a:r>
          </a:p>
        </p:txBody>
      </p:sp>
      <p:sp>
        <p:nvSpPr>
          <p:cNvPr id="100027" name="Step4"/>
          <p:cNvSpPr txBox="1"/>
          <p:nvPr/>
        </p:nvSpPr>
        <p:spPr>
          <a:xfrm xmlns:a="http://schemas.openxmlformats.org/drawingml/2006/main">
            <a:off x="9720000" y="1260000"/>
            <a:ext cx="216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080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DC2626"/>
                </a:solidFill>
              </a:rPr>
              <a:t>STEP 4</a:t>
            </a:r>
          </a:p>
          <a:p xmlns:a="http://schemas.openxmlformats.org/drawingml/2006/main">
            <a:r>
              <a:rPr lang="en-US" sz="1700">
                <a:solidFill>
                  <a:srgbClr val="DC2626"/>
                </a:solidFill>
              </a:rPr>
              <a:t>Check threshold</a:t>
            </a:r>
          </a:p>
          <a:p xmlns:a="http://schemas.openxmlformats.org/drawingml/2006/main">
            <a:r>
              <a:rPr lang="en-US" sz="1700">
                <a:solidFill>
                  <a:srgbClr val="DC2626"/>
                </a:solidFill>
              </a:rPr>
              <a:t>count &gt;= 5?</a:t>
            </a:r>
          </a:p>
          <a:p xmlns:a="http://schemas.openxmlformats.org/drawingml/2006/main">
            <a:r>
              <a:rPr lang="en-US" sz="1700">
                <a:solidFill>
                  <a:srgbClr val="DC2626"/>
                </a:solidFill>
              </a:rPr>
              <a:t>Raise Alert</a:t>
            </a:r>
          </a:p>
        </p:txBody>
      </p:sp>
      <p:sp>
        <p:nvSpPr>
          <p:cNvPr id="100028" name="Config"/>
          <p:cNvSpPr txBox="1"/>
          <p:nvPr/>
        </p:nvSpPr>
        <p:spPr>
          <a:xfrm xmlns:a="http://schemas.openxmlformats.org/drawingml/2006/main">
            <a:off x="540000" y="468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7AAFF0"/>
                </a:solidFill>
              </a:rPr>
              <a:t>Threshold and time window are configurable in application.properties — no code changes needed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4070F"/>
        </a:solidFill>
      </p:bgPr>
    </p:bg>
    <p:spTree>
      <p:nvGrpSpPr>
        <p:cNvPr id="1" name=""/>
        <p:cNvGrpSpPr/>
        <p:nvPr/>
      </p:nvGrpSpPr>
      <p:grpSpPr/>
      <p:sp>
        <p:nvSpPr>
          <p:cNvPr id="100029" name="Title"/>
          <p:cNvSpPr txBox="1"/>
          <p:nvPr/>
        </p:nvSpPr>
        <p:spPr>
          <a:xfrm xmlns:a="http://schemas.openxmlformats.org/drawingml/2006/main">
            <a:off x="54000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2B87A"/>
                </a:solidFill>
              </a:rPr>
              <a:t>Testing — 43 Tests, 0 Failures</a:t>
            </a:r>
          </a:p>
        </p:txBody>
      </p:sp>
      <p:sp>
        <p:nvSpPr>
          <p:cNvPr id="100030" name="T1"/>
          <p:cNvSpPr txBox="1"/>
          <p:nvPr/>
        </p:nvSpPr>
        <p:spPr>
          <a:xfrm xmlns:a="http://schemas.openxmlformats.org/drawingml/2006/main">
            <a:off x="540000" y="1260000"/>
            <a:ext cx="3240000" cy="39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F1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EventServiceTest</a:t>
            </a:r>
          </a:p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12 tests</a:t>
            </a:r>
          </a:p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• Sample data loads correctly</a:t>
            </a:r>
          </a:p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• Event IDs are unique</a:t>
            </a:r>
          </a:p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• Severity filter works</a:t>
            </a:r>
          </a:p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• Type filter works</a:t>
            </a:r>
          </a:p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• Combined filters work</a:t>
            </a:r>
          </a:p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• Results sorted newest first</a:t>
            </a:r>
          </a:p>
        </p:txBody>
      </p:sp>
      <p:sp>
        <p:nvSpPr>
          <p:cNvPr id="100031" name="T2"/>
          <p:cNvSpPr txBox="1"/>
          <p:nvPr/>
        </p:nvSpPr>
        <p:spPr>
          <a:xfrm xmlns:a="http://schemas.openxmlformats.org/drawingml/2006/main">
            <a:off x="4140000" y="1260000"/>
            <a:ext cx="3240000" cy="39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F1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DetectionServiceTest</a:t>
            </a:r>
          </a:p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17 tests</a:t>
            </a:r>
          </a:p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• Alert fires at threshold</a:t>
            </a:r>
          </a:p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• Alert fires above threshold</a:t>
            </a:r>
          </a:p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• No alert below threshold</a:t>
            </a:r>
          </a:p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• Time window respected</a:t>
            </a:r>
          </a:p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• Failures grouped by IP</a:t>
            </a:r>
          </a:p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• Successful logins ignored</a:t>
            </a:r>
          </a:p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• Alert content is accurate</a:t>
            </a:r>
          </a:p>
        </p:txBody>
      </p:sp>
      <p:sp>
        <p:nvSpPr>
          <p:cNvPr id="100032" name="T3"/>
          <p:cNvSpPr txBox="1"/>
          <p:nvPr/>
        </p:nvSpPr>
        <p:spPr>
          <a:xfrm xmlns:a="http://schemas.openxmlformats.org/drawingml/2006/main">
            <a:off x="7740000" y="1260000"/>
            <a:ext cx="3240000" cy="39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F1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DashboardControllerTest</a:t>
            </a:r>
          </a:p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14 tests</a:t>
            </a:r>
          </a:p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• HTTP 200 on all endpoints</a:t>
            </a:r>
          </a:p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• HTTP 400 on bad input</a:t>
            </a:r>
          </a:p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• JSON structure verified</a:t>
            </a:r>
          </a:p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• Case-insensitive filters</a:t>
            </a:r>
          </a:p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• Summary counts accurate</a:t>
            </a:r>
          </a:p>
          <a:p xmlns:a="http://schemas.openxmlformats.org/drawingml/2006/main">
            <a:r>
              <a:rPr lang="en-US" sz="1700">
                <a:solidFill>
                  <a:srgbClr val="CFE0F8"/>
                </a:solidFill>
              </a:rPr>
              <a:t>• Alert fields present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4070F"/>
        </a:solidFill>
      </p:bgPr>
    </p:bg>
    <p:spTree>
      <p:nvGrpSpPr>
        <p:cNvPr id="1" name=""/>
        <p:cNvGrpSpPr/>
        <p:nvPr/>
      </p:nvGrpSpPr>
      <p:grpSpPr/>
      <p:sp>
        <p:nvSpPr>
          <p:cNvPr id="100033" name="Title"/>
          <p:cNvSpPr txBox="1"/>
          <p:nvPr/>
        </p:nvSpPr>
        <p:spPr>
          <a:xfrm xmlns:a="http://schemas.openxmlformats.org/drawingml/2006/main">
            <a:off x="54000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2B87A"/>
                </a:solidFill>
              </a:rPr>
              <a:t>What I Learned</a:t>
            </a:r>
          </a:p>
        </p:txBody>
      </p:sp>
      <p:sp>
        <p:nvSpPr>
          <p:cNvPr id="100034" name="Body"/>
          <p:cNvSpPr txBox="1"/>
          <p:nvPr/>
        </p:nvSpPr>
        <p:spPr>
          <a:xfrm xmlns:a="http://schemas.openxmlformats.org/drawingml/2006/main">
            <a:off x="540000" y="1260000"/>
            <a:ext cx="10800000" cy="46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900">
                <a:solidFill>
                  <a:srgbClr val="CFE0F8"/>
                </a:solidFill>
              </a:rPr>
              <a:t>Spring Boot fundamentals</a:t>
            </a:r>
          </a:p>
          <a:p xmlns:a="http://schemas.openxmlformats.org/drawingml/2006/main">
            <a:r>
              <a:rPr lang="en-US" sz="1900">
                <a:solidFill>
                  <a:srgbClr val="CFE0F8"/>
                </a:solidFill>
              </a:rPr>
              <a:t>@RestController · @Service · @Value · Auto-configuration</a:t>
            </a:r>
          </a:p>
          <a:p xmlns:a="http://schemas.openxmlformats.org/drawingml/2006/main">
            <a:r>
              <a:rPr lang="en-US" sz="1900">
                <a:solidFill>
                  <a:srgbClr val="CFE0F8"/>
                </a:solidFill>
              </a:rPr>
              <a:t/>
            </a:r>
          </a:p>
          <a:p xmlns:a="http://schemas.openxmlformats.org/drawingml/2006/main">
            <a:r>
              <a:rPr lang="en-US" sz="1900">
                <a:solidFill>
                  <a:srgbClr val="CFE0F8"/>
                </a:solidFill>
              </a:rPr>
              <a:t>Layered architecture</a:t>
            </a:r>
          </a:p>
          <a:p xmlns:a="http://schemas.openxmlformats.org/drawingml/2006/main">
            <a:r>
              <a:rPr lang="en-US" sz="1900">
                <a:solidFill>
                  <a:srgbClr val="CFE0F8"/>
                </a:solidFill>
              </a:rPr>
              <a:t>Separating models, services, and controllers — single responsibility principle</a:t>
            </a:r>
          </a:p>
          <a:p xmlns:a="http://schemas.openxmlformats.org/drawingml/2006/main">
            <a:r>
              <a:rPr lang="en-US" sz="1900">
                <a:solidFill>
                  <a:srgbClr val="CFE0F8"/>
                </a:solidFill>
              </a:rPr>
              <a:t/>
            </a:r>
          </a:p>
          <a:p xmlns:a="http://schemas.openxmlformats.org/drawingml/2006/main">
            <a:r>
              <a:rPr lang="en-US" sz="1900">
                <a:solidFill>
                  <a:srgbClr val="CFE0F8"/>
                </a:solidFill>
              </a:rPr>
              <a:t>REST API design</a:t>
            </a:r>
          </a:p>
          <a:p xmlns:a="http://schemas.openxmlformats.org/drawingml/2006/main">
            <a:r>
              <a:rPr lang="en-US" sz="1900">
                <a:solidFill>
                  <a:srgbClr val="CFE0F8"/>
                </a:solidFill>
              </a:rPr>
              <a:t>HTTP status codes · Query parameter validation · JSON responses</a:t>
            </a:r>
          </a:p>
          <a:p xmlns:a="http://schemas.openxmlformats.org/drawingml/2006/main">
            <a:r>
              <a:rPr lang="en-US" sz="1900">
                <a:solidFill>
                  <a:srgbClr val="CFE0F8"/>
                </a:solidFill>
              </a:rPr>
              <a:t/>
            </a:r>
          </a:p>
          <a:p xmlns:a="http://schemas.openxmlformats.org/drawingml/2006/main">
            <a:r>
              <a:rPr lang="en-US" sz="1900">
                <a:solidFill>
                  <a:srgbClr val="CFE0F8"/>
                </a:solidFill>
              </a:rPr>
              <a:t>JUnit 5 testing</a:t>
            </a:r>
          </a:p>
          <a:p xmlns:a="http://schemas.openxmlformats.org/drawingml/2006/main">
            <a:r>
              <a:rPr lang="en-US" sz="1900">
                <a:solidFill>
                  <a:srgbClr val="CFE0F8"/>
                </a:solidFill>
              </a:rPr>
              <a:t>Unit tests without Spring context · MockMvc controller tests</a:t>
            </a:r>
          </a:p>
          <a:p xmlns:a="http://schemas.openxmlformats.org/drawingml/2006/main">
            <a:r>
              <a:rPr lang="en-US" sz="1900">
                <a:solidFill>
                  <a:srgbClr val="CFE0F8"/>
                </a:solidFill>
              </a:rPr>
              <a:t/>
            </a:r>
          </a:p>
          <a:p xmlns:a="http://schemas.openxmlformats.org/drawingml/2006/main">
            <a:r>
              <a:rPr lang="en-US" sz="1900">
                <a:solidFill>
                  <a:srgbClr val="CFE0F8"/>
                </a:solidFill>
              </a:rPr>
              <a:t>Detection logic</a:t>
            </a:r>
          </a:p>
          <a:p xmlns:a="http://schemas.openxmlformats.org/drawingml/2006/main">
            <a:r>
              <a:rPr lang="en-US" sz="1900">
                <a:solidFill>
                  <a:srgbClr val="CFE0F8"/>
                </a:solidFill>
              </a:rPr>
              <a:t>Time-windowed IP-grouped brute-force rule · Configurable properties</a:t>
            </a:r>
          </a:p>
          <a:p xmlns:a="http://schemas.openxmlformats.org/drawingml/2006/main">
            <a:r>
              <a:rPr lang="en-US" sz="1900">
                <a:solidFill>
                  <a:srgbClr val="CFE0F8"/>
                </a:solidFill>
              </a:rPr>
              <a:t/>
            </a:r>
          </a:p>
          <a:p xmlns:a="http://schemas.openxmlformats.org/drawingml/2006/main">
            <a:r>
              <a:rPr lang="en-US" sz="1900">
                <a:solidFill>
                  <a:srgbClr val="CFE0F8"/>
                </a:solidFill>
              </a:rPr>
              <a:t>Frontend integration</a:t>
            </a:r>
          </a:p>
          <a:p xmlns:a="http://schemas.openxmlformats.org/drawingml/2006/main">
            <a:r>
              <a:rPr lang="en-US" sz="1900">
                <a:solidFill>
                  <a:srgbClr val="CFE0F8"/>
                </a:solidFill>
              </a:rPr>
              <a:t>Fetch API · Dynamic HTML rendering · Safe HTML escaping</a:t>
            </a:r>
          </a:p>
          <a:p xmlns:a="http://schemas.openxmlformats.org/drawingml/2006/main">
            <a:r>
              <a:rPr lang="en-US" sz="1900">
                <a:solidFill>
                  <a:srgbClr val="CFE0F8"/>
                </a:solidFill>
              </a:rPr>
              <a:t/>
            </a:r>
          </a:p>
          <a:p xmlns:a="http://schemas.openxmlformats.org/drawingml/2006/main">
            <a:r>
              <a:rPr lang="en-US" sz="1900">
                <a:solidFill>
                  <a:srgbClr val="CFE0F8"/>
                </a:solidFill>
              </a:rPr>
              <a:t>Cybersecurity concepts</a:t>
            </a:r>
          </a:p>
          <a:p xmlns:a="http://schemas.openxmlformats.org/drawingml/2006/main">
            <a:r>
              <a:rPr lang="en-US" sz="1900">
                <a:solidFill>
                  <a:srgbClr val="CFE0F8"/>
                </a:solidFill>
              </a:rPr>
              <a:t>Brute-force attacks · SIEM dashboards · SOC workflows · Severity levels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4070F"/>
        </a:solidFill>
      </p:bgPr>
    </p:bg>
    <p:spTree>
      <p:nvGrpSpPr>
        <p:cNvPr id="1" name=""/>
        <p:cNvGrpSpPr/>
        <p:nvPr/>
      </p:nvGrpSpPr>
      <p:grpSpPr/>
      <p:sp>
        <p:nvSpPr>
          <p:cNvPr id="100035" name="Title"/>
          <p:cNvSpPr txBox="1"/>
          <p:nvPr/>
        </p:nvSpPr>
        <p:spPr>
          <a:xfrm xmlns:a="http://schemas.openxmlformats.org/drawingml/2006/main">
            <a:off x="54000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2B87A"/>
                </a:solidFill>
              </a:rPr>
              <a:t>Safety &amp; Ethics</a:t>
            </a:r>
          </a:p>
        </p:txBody>
      </p:sp>
      <p:sp>
        <p:nvSpPr>
          <p:cNvPr id="100036" name="Body"/>
          <p:cNvSpPr txBox="1"/>
          <p:nvPr/>
        </p:nvSpPr>
        <p:spPr>
          <a:xfrm xmlns:a="http://schemas.openxmlformats.org/drawingml/2006/main">
            <a:off x="540000" y="1260000"/>
            <a:ext cx="10800000" cy="43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100">
                <a:solidFill>
                  <a:srgbClr val="CFE0F8"/>
                </a:solidFill>
              </a:rPr>
              <a:t>All data is synthetic — no real users, IPs, or credentials</a:t>
            </a:r>
          </a:p>
          <a:p xmlns:a="http://schemas.openxmlformats.org/drawingml/2006/main">
            <a:r>
              <a:rPr lang="en-US" sz="2100">
                <a:solidFill>
                  <a:srgbClr val="CFE0F8"/>
                </a:solidFill>
              </a:rPr>
              <a:t/>
            </a:r>
          </a:p>
          <a:p xmlns:a="http://schemas.openxmlformats.org/drawingml/2006/main">
            <a:r>
              <a:rPr lang="en-US" sz="2100">
                <a:solidFill>
                  <a:srgbClr val="CFE0F8"/>
                </a:solidFill>
              </a:rPr>
              <a:t>No outbound network calls — app only listens on localhost:8085</a:t>
            </a:r>
          </a:p>
          <a:p xmlns:a="http://schemas.openxmlformats.org/drawingml/2006/main">
            <a:r>
              <a:rPr lang="en-US" sz="2100">
                <a:solidFill>
                  <a:srgbClr val="CFE0F8"/>
                </a:solidFill>
              </a:rPr>
              <a:t/>
            </a:r>
          </a:p>
          <a:p xmlns:a="http://schemas.openxmlformats.org/drawingml/2006/main">
            <a:r>
              <a:rPr lang="en-US" sz="2100">
                <a:solidFill>
                  <a:srgbClr val="CFE0F8"/>
                </a:solidFill>
              </a:rPr>
              <a:t>No real network scanning, exploitation, or data collection</a:t>
            </a:r>
          </a:p>
          <a:p xmlns:a="http://schemas.openxmlformats.org/drawingml/2006/main">
            <a:r>
              <a:rPr lang="en-US" sz="2100">
                <a:solidFill>
                  <a:srgbClr val="CFE0F8"/>
                </a:solidFill>
              </a:rPr>
              <a:t/>
            </a:r>
          </a:p>
          <a:p xmlns:a="http://schemas.openxmlformats.org/drawingml/2006/main">
            <a:r>
              <a:rPr lang="en-US" sz="2100">
                <a:solidFill>
                  <a:srgbClr val="CFE0F8"/>
                </a:solidFill>
              </a:rPr>
              <a:t>All IP addresses use RFC 5737 documentation ranges</a:t>
            </a:r>
          </a:p>
          <a:p xmlns:a="http://schemas.openxmlformats.org/drawingml/2006/main">
            <a:r>
              <a:rPr lang="en-US" sz="2100">
                <a:solidFill>
                  <a:srgbClr val="CFE0F8"/>
                </a:solidFill>
              </a:rPr>
              <a:t>(192.0.2.x and 198.51.100.x — never routed on the real internet)</a:t>
            </a:r>
          </a:p>
          <a:p xmlns:a="http://schemas.openxmlformats.org/drawingml/2006/main">
            <a:r>
              <a:rPr lang="en-US" sz="2100">
                <a:solidFill>
                  <a:srgbClr val="CFE0F8"/>
                </a:solidFill>
              </a:rPr>
              <a:t/>
            </a:r>
          </a:p>
          <a:p xmlns:a="http://schemas.openxmlformats.org/drawingml/2006/main">
            <a:r>
              <a:rPr lang="en-US" sz="2100">
                <a:solidFill>
                  <a:srgbClr val="CFE0F8"/>
                </a:solidFill>
              </a:rPr>
              <a:t>Frontend escapes all server text before DOM insertion (XSS prevention)</a:t>
            </a:r>
          </a:p>
          <a:p xmlns:a="http://schemas.openxmlformats.org/drawingml/2006/main">
            <a:r>
              <a:rPr lang="en-US" sz="2100">
                <a:solidFill>
                  <a:srgbClr val="CFE0F8"/>
                </a:solidFill>
              </a:rPr>
              <a:t/>
            </a:r>
          </a:p>
          <a:p xmlns:a="http://schemas.openxmlformats.org/drawingml/2006/main">
            <a:r>
              <a:rPr lang="en-US" sz="2100">
                <a:solidFill>
                  <a:srgbClr val="CFE0F8"/>
                </a:solidFill>
              </a:rPr>
              <a:t>No secrets, API keys, or sensitive config stored anywhere</a:t>
            </a:r>
          </a:p>
        </p:txBody>
      </p:sp>
      <p:sp>
        <p:nvSpPr>
          <p:cNvPr id="100037" name="Badge"/>
          <p:cNvSpPr txBox="1"/>
          <p:nvPr/>
        </p:nvSpPr>
        <p:spPr>
          <a:xfrm xmlns:a="http://schemas.openxmlformats.org/drawingml/2006/main">
            <a:off x="720000" y="5580000"/>
            <a:ext cx="1044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12B87A"/>
                </a:solidFill>
              </a:rPr>
              <a:t>Safe by design — not just as an afterthought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4070F"/>
        </a:solidFill>
      </p:bgPr>
    </p:bg>
    <p:spTree>
      <p:nvGrpSpPr>
        <p:cNvPr id="1" name=""/>
        <p:cNvGrpSpPr/>
        <p:nvPr/>
      </p:nvGrpSpPr>
      <p:grpSpPr/>
      <p:sp>
        <p:nvSpPr>
          <p:cNvPr id="100038" name="Title"/>
          <p:cNvSpPr txBox="1"/>
          <p:nvPr/>
        </p:nvSpPr>
        <p:spPr>
          <a:xfrm xmlns:a="http://schemas.openxmlformats.org/drawingml/2006/main">
            <a:off x="720000" y="1800000"/>
            <a:ext cx="1044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5400" b="1">
                <a:solidFill>
                  <a:srgbClr val="12B87A"/>
                </a:solidFill>
              </a:rPr>
              <a:t>Thank You</a:t>
            </a:r>
          </a:p>
        </p:txBody>
      </p:sp>
      <p:sp>
        <p:nvSpPr>
          <p:cNvPr id="100039" name="Name"/>
          <p:cNvSpPr txBox="1"/>
          <p:nvPr/>
        </p:nvSpPr>
        <p:spPr>
          <a:xfrm xmlns:a="http://schemas.openxmlformats.org/drawingml/2006/main">
            <a:off x="720000" y="3060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800">
                <a:solidFill>
                  <a:srgbClr val="7AAFF0"/>
                </a:solidFill>
              </a:rPr>
              <a:t>Gunjan Saini</a:t>
            </a:r>
          </a:p>
        </p:txBody>
      </p:sp>
      <p:sp>
        <p:nvSpPr>
          <p:cNvPr id="100040" name="Course"/>
          <p:cNvSpPr txBox="1"/>
          <p:nvPr/>
        </p:nvSpPr>
        <p:spPr>
          <a:xfrm xmlns:a="http://schemas.openxmlformats.org/drawingml/2006/main">
            <a:off x="720000" y="3960000"/>
            <a:ext cx="1044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4A6A9A"/>
                </a:solidFill>
              </a:rPr>
              <a:t>IBM SkillsBuild Cybersecurity Bootcamp · October 2026</a:t>
            </a:r>
          </a:p>
        </p:txBody>
      </p:sp>
      <p:sp>
        <p:nvSpPr>
          <p:cNvPr id="100041" name="Project"/>
          <p:cNvSpPr txBox="1"/>
          <p:nvPr/>
        </p:nvSpPr>
        <p:spPr>
          <a:xfrm xmlns:a="http://schemas.openxmlformats.org/drawingml/2006/main">
            <a:off x="720000" y="4680000"/>
            <a:ext cx="1044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2E4F78"/>
                </a:solidFill>
              </a:rPr>
              <a:t>github.com/GunjanSaini/SentinelX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OfficeCLI/1.0.158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2026-10-25T19:12:59Z</dcterms:created>
  <cp:lastModifiedBy>OfficeCLI</cp:lastModifiedBy>
  <dcterms:modified xsi:type="dcterms:W3CDTF">2026-10-25T19:12:59Z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1.0.158</vt:lpwstr>
  </op:property>
  <op:property fmtid="{D5CDD505-2E9C-101B-9397-08002B2CF9AE}" pid="3" name="OfficeCLI.LastModified">
    <vt:lpwstr xmlns:vt="http://schemas.openxmlformats.org/officeDocument/2006/docPropsVTypes">2026-10-25T19:13:01Z</vt:lpwstr>
  </op:property>
</op:Properties>
</file>